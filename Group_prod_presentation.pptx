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Helvetica World Bold" charset="1" panose="020B0800040000020004"/>
      <p:regular r:id="rId25"/>
    </p:embeddedFont>
    <p:embeddedFont>
      <p:font typeface="Helvetica World" charset="1" panose="020B0500040000020004"/>
      <p:regular r:id="rId26"/>
    </p:embeddedFont>
    <p:embeddedFont>
      <p:font typeface="Arial Bold" charset="1" panose="020B0704020202020204"/>
      <p:regular r:id="rId27"/>
    </p:embeddedFont>
    <p:embeddedFont>
      <p:font typeface="Helvetica World Bold Italics" charset="1" panose="020B080004000009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ithub.com/KristinaScgen/Group-Task_2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06029" y="2893189"/>
            <a:ext cx="10730520" cy="279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2199"/>
              </a:lnSpc>
            </a:pPr>
            <a:r>
              <a:rPr lang="en-US" b="true" sz="12900" spc="-635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Analytics Group Project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18880" y="7566409"/>
            <a:ext cx="15896160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0"/>
              </a:lnSpc>
            </a:pPr>
            <a:r>
              <a:rPr lang="en-US" sz="4300" spc="-8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</a:t>
            </a:r>
          </a:p>
          <a:p>
            <a:pPr algn="l">
              <a:lnSpc>
                <a:spcPts val="4300"/>
              </a:lnSpc>
            </a:pPr>
            <a:r>
              <a:rPr lang="en-US" sz="4300" spc="-8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Kristina Schogoleva , Nataliia Biliuk, Olesya Drozhzhina, Oksana Karpenko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227729" y="-2743362"/>
            <a:ext cx="11126880" cy="11716560"/>
            <a:chOff x="0" y="0"/>
            <a:chExt cx="14835840" cy="15622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35887" cy="15622143"/>
            </a:xfrm>
            <a:custGeom>
              <a:avLst/>
              <a:gdLst/>
              <a:ahLst/>
              <a:cxnLst/>
              <a:rect r="r" b="b" t="t" l="l"/>
              <a:pathLst>
                <a:path h="15622143" w="14835887">
                  <a:moveTo>
                    <a:pt x="0" y="0"/>
                  </a:moveTo>
                  <a:lnTo>
                    <a:pt x="14835887" y="0"/>
                  </a:lnTo>
                  <a:lnTo>
                    <a:pt x="14835887" y="15622143"/>
                  </a:lnTo>
                  <a:lnTo>
                    <a:pt x="0" y="1562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49" t="0" r="-264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66706" y="-222863"/>
            <a:ext cx="19680840" cy="1704960"/>
            <a:chOff x="0" y="0"/>
            <a:chExt cx="26241120" cy="2273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41121" cy="2273300"/>
            </a:xfrm>
            <a:custGeom>
              <a:avLst/>
              <a:gdLst/>
              <a:ahLst/>
              <a:cxnLst/>
              <a:rect r="r" b="b" t="t" l="l"/>
              <a:pathLst>
                <a:path h="2273300" w="26241121">
                  <a:moveTo>
                    <a:pt x="0" y="0"/>
                  </a:moveTo>
                  <a:lnTo>
                    <a:pt x="26241121" y="0"/>
                  </a:lnTo>
                  <a:lnTo>
                    <a:pt x="26241121" y="2273300"/>
                  </a:lnTo>
                  <a:lnTo>
                    <a:pt x="0" y="2273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18880" y="322845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47040" y="501030"/>
            <a:ext cx="298742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TEAM: Scatter brains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22060" y="322845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03760" y="-958040"/>
            <a:ext cx="7178760" cy="11879280"/>
            <a:chOff x="0" y="0"/>
            <a:chExt cx="9571680" cy="15839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1736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9571736">
                  <a:moveTo>
                    <a:pt x="0" y="0"/>
                  </a:moveTo>
                  <a:lnTo>
                    <a:pt x="9571736" y="0"/>
                  </a:lnTo>
                  <a:lnTo>
                    <a:pt x="9571736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263840" y="-4131720"/>
            <a:ext cx="7991280" cy="7991280"/>
            <a:chOff x="0" y="0"/>
            <a:chExt cx="10655040" cy="10655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55046" cy="10655046"/>
            </a:xfrm>
            <a:custGeom>
              <a:avLst/>
              <a:gdLst/>
              <a:ahLst/>
              <a:cxnLst/>
              <a:rect r="r" b="b" t="t" l="l"/>
              <a:pathLst>
                <a:path h="10655046" w="10655046">
                  <a:moveTo>
                    <a:pt x="0" y="0"/>
                  </a:moveTo>
                  <a:lnTo>
                    <a:pt x="10655046" y="0"/>
                  </a:lnTo>
                  <a:lnTo>
                    <a:pt x="10655046" y="10655046"/>
                  </a:lnTo>
                  <a:lnTo>
                    <a:pt x="0" y="10655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483302" y="1547972"/>
            <a:ext cx="9580680" cy="266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1599"/>
              </a:lnSpc>
            </a:pPr>
            <a:r>
              <a:rPr lang="en-US" b="true" sz="12300" spc="-60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635840" y="7780680"/>
            <a:ext cx="5328720" cy="38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600"/>
              </a:lnSpc>
            </a:pPr>
            <a:r>
              <a:rPr lang="en-US" b="true" sz="37800" spc="-1857">
                <a:solidFill>
                  <a:srgbClr val="EFEF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3771842" y="2544464"/>
            <a:ext cx="3571785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5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 November 2025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2944096" y="7325109"/>
            <a:ext cx="5227276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6"/>
              </a:lnSpc>
              <a:spcBef>
                <a:spcPct val="0"/>
              </a:spcBef>
            </a:pPr>
            <a:r>
              <a:rPr lang="en-US" b="true" sz="2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TEAM: Scatter brains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90823" y="3754785"/>
            <a:ext cx="8662361" cy="526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0"/>
              </a:lnSpc>
              <a:spcBef>
                <a:spcPct val="0"/>
              </a:spcBef>
            </a:pPr>
            <a:r>
              <a:rPr lang="en-US" b="true" sz="397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 are a group of data analytics students working with the AdventureWorks 2022 dataset.</a:t>
            </a:r>
          </a:p>
          <a:p>
            <a:pPr algn="just">
              <a:lnSpc>
                <a:spcPts val="5730"/>
              </a:lnSpc>
              <a:spcBef>
                <a:spcPct val="0"/>
              </a:spcBef>
            </a:pPr>
            <a:r>
              <a:rPr lang="en-US" b="true" sz="397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Our Goal</a:t>
            </a:r>
          </a:p>
          <a:p>
            <a:pPr algn="just">
              <a:lnSpc>
                <a:spcPts val="5730"/>
              </a:lnSpc>
              <a:spcBef>
                <a:spcPct val="0"/>
              </a:spcBef>
            </a:pPr>
            <a:r>
              <a:rPr lang="en-US" sz="397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Apply SQL, Python, and analytics skills to answer real business questions using a complex demo database.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05560" y="-3991680"/>
            <a:ext cx="9599400" cy="9599400"/>
            <a:chOff x="0" y="0"/>
            <a:chExt cx="12799200" cy="1279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99187" cy="12799187"/>
            </a:xfrm>
            <a:custGeom>
              <a:avLst/>
              <a:gdLst/>
              <a:ahLst/>
              <a:cxnLst/>
              <a:rect r="r" b="b" t="t" l="l"/>
              <a:pathLst>
                <a:path h="12799187" w="12799187">
                  <a:moveTo>
                    <a:pt x="0" y="0"/>
                  </a:moveTo>
                  <a:lnTo>
                    <a:pt x="12799187" y="0"/>
                  </a:lnTo>
                  <a:lnTo>
                    <a:pt x="12799187" y="12799187"/>
                  </a:lnTo>
                  <a:lnTo>
                    <a:pt x="0" y="127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69481" y="3954060"/>
            <a:ext cx="7344812" cy="290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39"/>
              </a:lnSpc>
            </a:pPr>
            <a:r>
              <a:rPr lang="en-US" b="true" sz="3101" spc="192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AdventureWorks 2022 dataset covers several business domains such sales performance, human resources, and retail operations.</a:t>
            </a:r>
          </a:p>
          <a:p>
            <a:pPr algn="r">
              <a:lnSpc>
                <a:spcPts val="4239"/>
              </a:lnSpc>
            </a:pPr>
            <a:r>
              <a:rPr lang="en-US" b="true" sz="3101" spc="192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75600" y="1170360"/>
            <a:ext cx="6998400" cy="2561760"/>
            <a:chOff x="0" y="0"/>
            <a:chExt cx="9331200" cy="3415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31198" cy="3415665"/>
            </a:xfrm>
            <a:custGeom>
              <a:avLst/>
              <a:gdLst/>
              <a:ahLst/>
              <a:cxnLst/>
              <a:rect r="r" b="b" t="t" l="l"/>
              <a:pathLst>
                <a:path h="3415665" w="9331198">
                  <a:moveTo>
                    <a:pt x="0" y="0"/>
                  </a:moveTo>
                  <a:lnTo>
                    <a:pt x="9331198" y="0"/>
                  </a:lnTo>
                  <a:lnTo>
                    <a:pt x="9331198" y="3415665"/>
                  </a:lnTo>
                  <a:lnTo>
                    <a:pt x="0" y="34156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581480" y="2221680"/>
            <a:ext cx="1398960" cy="81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600"/>
              </a:lnSpc>
            </a:pPr>
            <a:r>
              <a:rPr lang="en-US" b="true" sz="8000" spc="-655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  <a:r>
              <a:rPr lang="ar-EG" b="true" sz="8000" spc="-655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347367" y="6642720"/>
            <a:ext cx="5060305" cy="537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600"/>
              </a:lnSpc>
            </a:pPr>
            <a:r>
              <a:rPr lang="en-US" b="true" sz="37800" spc="-185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75600" y="3862440"/>
            <a:ext cx="6998400" cy="2561760"/>
            <a:chOff x="0" y="0"/>
            <a:chExt cx="9331200" cy="3415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31198" cy="3415665"/>
            </a:xfrm>
            <a:custGeom>
              <a:avLst/>
              <a:gdLst/>
              <a:ahLst/>
              <a:cxnLst/>
              <a:rect r="r" b="b" t="t" l="l"/>
              <a:pathLst>
                <a:path h="3415665" w="9331198">
                  <a:moveTo>
                    <a:pt x="0" y="0"/>
                  </a:moveTo>
                  <a:lnTo>
                    <a:pt x="9331198" y="0"/>
                  </a:lnTo>
                  <a:lnTo>
                    <a:pt x="9331198" y="3415665"/>
                  </a:lnTo>
                  <a:lnTo>
                    <a:pt x="0" y="34156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975600" y="6557400"/>
            <a:ext cx="6998400" cy="2561760"/>
            <a:chOff x="0" y="0"/>
            <a:chExt cx="9331200" cy="3415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31198" cy="3415665"/>
            </a:xfrm>
            <a:custGeom>
              <a:avLst/>
              <a:gdLst/>
              <a:ahLst/>
              <a:cxnLst/>
              <a:rect r="r" b="b" t="t" l="l"/>
              <a:pathLst>
                <a:path h="3415665" w="9331198">
                  <a:moveTo>
                    <a:pt x="0" y="0"/>
                  </a:moveTo>
                  <a:lnTo>
                    <a:pt x="9331198" y="0"/>
                  </a:lnTo>
                  <a:lnTo>
                    <a:pt x="9331198" y="3415665"/>
                  </a:lnTo>
                  <a:lnTo>
                    <a:pt x="0" y="34156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581480" y="4915200"/>
            <a:ext cx="1398960" cy="81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600"/>
              </a:lnSpc>
            </a:pPr>
            <a:r>
              <a:rPr lang="en-US" b="true" sz="8000" spc="-655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  <a:r>
              <a:rPr lang="ar-EG" b="true" sz="8000" spc="-655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81480" y="7608720"/>
            <a:ext cx="1398960" cy="81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600"/>
              </a:lnSpc>
            </a:pPr>
            <a:r>
              <a:rPr lang="en-US" b="true" sz="8000" spc="-655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  <a:r>
              <a:rPr lang="ar-EG" b="true" sz="8000" spc="-655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0440" y="1445952"/>
            <a:ext cx="3952080" cy="19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b="true" sz="2900" spc="46">
                <a:solidFill>
                  <a:srgbClr val="EFEF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Investigate six business-critical analytical questions</a:t>
            </a:r>
          </a:p>
          <a:p>
            <a:pPr algn="r" rtl="true">
              <a:lnSpc>
                <a:spcPts val="372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-806091" y="1155914"/>
            <a:ext cx="9950091" cy="1878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940"/>
              </a:lnSpc>
            </a:pPr>
            <a:r>
              <a:rPr lang="en-US" b="true" sz="12300" spc="-609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57013" y="7918040"/>
            <a:ext cx="4213920" cy="61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7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Our challenge was to: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80440" y="4141301"/>
            <a:ext cx="4664880" cy="197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b="true" sz="2899" spc="46">
                <a:solidFill>
                  <a:srgbClr val="EFEF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Extract meaningful insights from synthetic but realistic data</a:t>
            </a:r>
          </a:p>
          <a:p>
            <a:pPr algn="r" rtl="true">
              <a:lnSpc>
                <a:spcPts val="372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980440" y="6833295"/>
            <a:ext cx="4950180" cy="197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b="true" sz="2899" spc="46">
                <a:solidFill>
                  <a:srgbClr val="EFEF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Communicate clear, data-driven conclusions in a professional presentation</a:t>
            </a:r>
          </a:p>
          <a:p>
            <a:pPr algn="r" rtl="true">
              <a:lnSpc>
                <a:spcPts val="372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53456" y="-53116"/>
            <a:ext cx="9502089" cy="351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12939"/>
              </a:lnSpc>
            </a:pPr>
            <a:r>
              <a:rPr lang="en-US" b="true" sz="12300" spc="-602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</a:t>
            </a:r>
            <a:r>
              <a:rPr lang="en-US" b="true" sz="12300" spc="-602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 Solution</a:t>
            </a:r>
          </a:p>
          <a:p>
            <a:pPr algn="just" rtl="true">
              <a:lnSpc>
                <a:spcPts val="1294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9379635" y="2871203"/>
            <a:ext cx="16075800" cy="16075800"/>
            <a:chOff x="0" y="0"/>
            <a:chExt cx="21434400" cy="2143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34425" cy="21434425"/>
            </a:xfrm>
            <a:custGeom>
              <a:avLst/>
              <a:gdLst/>
              <a:ahLst/>
              <a:cxnLst/>
              <a:rect r="r" b="b" t="t" l="l"/>
              <a:pathLst>
                <a:path h="21434425" w="21434425">
                  <a:moveTo>
                    <a:pt x="0" y="0"/>
                  </a:moveTo>
                  <a:lnTo>
                    <a:pt x="21434425" y="0"/>
                  </a:lnTo>
                  <a:lnTo>
                    <a:pt x="21434425" y="21434425"/>
                  </a:lnTo>
                  <a:lnTo>
                    <a:pt x="0" y="21434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669813" y="7385170"/>
            <a:ext cx="5060305" cy="537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600"/>
              </a:lnSpc>
            </a:pPr>
            <a:r>
              <a:rPr lang="en-US" b="true" sz="37800" spc="-185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1065" y="2017208"/>
            <a:ext cx="6678731" cy="110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6"/>
              </a:lnSpc>
            </a:pPr>
            <a:r>
              <a:rPr lang="en-US" sz="3800" b="tru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Extraction &amp; Transformation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1065" y="3168392"/>
            <a:ext cx="3339366" cy="143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9"/>
              </a:lnSpc>
            </a:pPr>
            <a:r>
              <a:rPr lang="en-US" sz="2531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Used SQL to extract, join, and transform the data.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75300" y="1993319"/>
            <a:ext cx="274320" cy="245520"/>
            <a:chOff x="0" y="0"/>
            <a:chExt cx="365760" cy="32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" cy="327406"/>
            </a:xfrm>
            <a:custGeom>
              <a:avLst/>
              <a:gdLst/>
              <a:ahLst/>
              <a:cxnLst/>
              <a:rect r="r" b="b" t="t" l="l"/>
              <a:pathLst>
                <a:path h="327406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27406"/>
                  </a:lnTo>
                  <a:lnTo>
                    <a:pt x="0" y="327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700904" y="5020830"/>
            <a:ext cx="6678731" cy="110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6"/>
              </a:lnSpc>
            </a:pPr>
            <a:r>
              <a:rPr lang="en-US" sz="3800" b="tru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Analysis &amp; Visualisation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00904" y="6172014"/>
            <a:ext cx="3339366" cy="2407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9"/>
              </a:lnSpc>
            </a:pPr>
            <a:r>
              <a:rPr lang="en-US" sz="2531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Used Python (Pandas, Matplotlib, NumPy) for cleaning, analysis, visualisation, and statistical checks.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105138" y="4996941"/>
            <a:ext cx="274320" cy="245520"/>
            <a:chOff x="0" y="0"/>
            <a:chExt cx="365760" cy="32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" cy="327406"/>
            </a:xfrm>
            <a:custGeom>
              <a:avLst/>
              <a:gdLst/>
              <a:ahLst/>
              <a:cxnLst/>
              <a:rect r="r" b="b" t="t" l="l"/>
              <a:pathLst>
                <a:path h="327406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27406"/>
                  </a:lnTo>
                  <a:lnTo>
                    <a:pt x="0" y="327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677329" y="2050469"/>
            <a:ext cx="6678731" cy="56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6"/>
              </a:lnSpc>
            </a:pPr>
            <a:r>
              <a:rPr lang="en-US" sz="3800" b="tru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Collaboration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77329" y="2785478"/>
            <a:ext cx="3339366" cy="2407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9"/>
              </a:lnSpc>
            </a:pPr>
            <a:r>
              <a:rPr lang="en-US" sz="2531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Responsibilities were divided among team members to focus on specific analytical questions.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081564" y="2026580"/>
            <a:ext cx="274320" cy="245520"/>
            <a:chOff x="0" y="0"/>
            <a:chExt cx="365760" cy="327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" cy="327406"/>
            </a:xfrm>
            <a:custGeom>
              <a:avLst/>
              <a:gdLst/>
              <a:ahLst/>
              <a:cxnLst/>
              <a:rect r="r" b="b" t="t" l="l"/>
              <a:pathLst>
                <a:path h="327406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27406"/>
                  </a:lnTo>
                  <a:lnTo>
                    <a:pt x="0" y="327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677329" y="5470066"/>
            <a:ext cx="6678731" cy="56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6"/>
              </a:lnSpc>
            </a:pPr>
            <a:r>
              <a:rPr lang="en-US" sz="3800" b="tru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Value Delivered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081564" y="5479912"/>
            <a:ext cx="274320" cy="245520"/>
            <a:chOff x="0" y="0"/>
            <a:chExt cx="365760" cy="327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" cy="327406"/>
            </a:xfrm>
            <a:custGeom>
              <a:avLst/>
              <a:gdLst/>
              <a:ahLst/>
              <a:cxnLst/>
              <a:rect r="r" b="b" t="t" l="l"/>
              <a:pathLst>
                <a:path h="327406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27406"/>
                  </a:lnTo>
                  <a:lnTo>
                    <a:pt x="0" y="327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677329" y="6172014"/>
            <a:ext cx="3518566" cy="386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9"/>
              </a:lnSpc>
            </a:pPr>
            <a:r>
              <a:rPr lang="en-US" sz="2531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 analysis provides actionable insights from the dataset while showcasing our skills in SQL, Python, data analytics, project management, and teamwork.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35177" y="2834426"/>
            <a:ext cx="11748172" cy="266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99"/>
              </a:lnSpc>
            </a:pPr>
            <a:r>
              <a:rPr lang="en-US" b="true" sz="11769" spc="-580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We Deliver (Results)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7460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2072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5143348" y="3440256"/>
            <a:ext cx="14862531" cy="15650186"/>
            <a:chOff x="0" y="0"/>
            <a:chExt cx="14835840" cy="15622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35887" cy="15622143"/>
            </a:xfrm>
            <a:custGeom>
              <a:avLst/>
              <a:gdLst/>
              <a:ahLst/>
              <a:cxnLst/>
              <a:rect r="r" b="b" t="t" l="l"/>
              <a:pathLst>
                <a:path h="15622143" w="14835887">
                  <a:moveTo>
                    <a:pt x="0" y="0"/>
                  </a:moveTo>
                  <a:lnTo>
                    <a:pt x="14835887" y="0"/>
                  </a:lnTo>
                  <a:lnTo>
                    <a:pt x="14835887" y="15622143"/>
                  </a:lnTo>
                  <a:lnTo>
                    <a:pt x="0" y="1562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49" t="0" r="-264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503703" y="0"/>
            <a:ext cx="19680840" cy="1704960"/>
            <a:chOff x="0" y="0"/>
            <a:chExt cx="26241120" cy="227328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6241120" cy="2273280"/>
              <a:chOff x="0" y="0"/>
              <a:chExt cx="26241120" cy="227328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6241121" cy="2273300"/>
              </a:xfrm>
              <a:custGeom>
                <a:avLst/>
                <a:gdLst/>
                <a:ahLst/>
                <a:cxnLst/>
                <a:rect r="r" b="b" t="t" l="l"/>
                <a:pathLst>
                  <a:path h="2273300" w="26241121">
                    <a:moveTo>
                      <a:pt x="0" y="0"/>
                    </a:moveTo>
                    <a:lnTo>
                      <a:pt x="26241121" y="0"/>
                    </a:lnTo>
                    <a:lnTo>
                      <a:pt x="26241121" y="2273300"/>
                    </a:lnTo>
                    <a:lnTo>
                      <a:pt x="0" y="2273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2FF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2247447" y="749835"/>
              <a:ext cx="3916320" cy="57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rtl="true">
                <a:lnSpc>
                  <a:spcPts val="3600"/>
                </a:lnSpc>
              </a:pPr>
              <a:r>
                <a:rPr lang="en-US" sz="2499">
                  <a:solidFill>
                    <a:srgbClr val="EFEFE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DA_LON14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818327" y="946140"/>
              <a:ext cx="3983236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4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TEAM: Scatter brains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9851687" y="749835"/>
              <a:ext cx="3916320" cy="57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US" sz="2499">
                  <a:solidFill>
                    <a:srgbClr val="EFEFE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20 November 2025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023241" y="7261855"/>
            <a:ext cx="4264759" cy="452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0003"/>
              </a:lnSpc>
            </a:pPr>
            <a:r>
              <a:rPr lang="en-US" b="true" sz="31857" spc="-1565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7460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384890" y="2111587"/>
            <a:ext cx="7605581" cy="5704186"/>
          </a:xfrm>
          <a:custGeom>
            <a:avLst/>
            <a:gdLst/>
            <a:ahLst/>
            <a:cxnLst/>
            <a:rect r="r" b="b" t="t" l="l"/>
            <a:pathLst>
              <a:path h="5704186" w="7605581">
                <a:moveTo>
                  <a:pt x="0" y="0"/>
                </a:moveTo>
                <a:lnTo>
                  <a:pt x="7605580" y="0"/>
                </a:lnTo>
                <a:lnTo>
                  <a:pt x="7605580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2072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2216" y="311085"/>
            <a:ext cx="10567392" cy="7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Regional sales in the best performing</a:t>
            </a: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country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-8275381" y="4963680"/>
            <a:ext cx="14862531" cy="15650186"/>
            <a:chOff x="0" y="0"/>
            <a:chExt cx="14835840" cy="15622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35887" cy="15622143"/>
            </a:xfrm>
            <a:custGeom>
              <a:avLst/>
              <a:gdLst/>
              <a:ahLst/>
              <a:cxnLst/>
              <a:rect r="r" b="b" t="t" l="l"/>
              <a:pathLst>
                <a:path h="15622143" w="14835887">
                  <a:moveTo>
                    <a:pt x="0" y="0"/>
                  </a:moveTo>
                  <a:lnTo>
                    <a:pt x="14835887" y="0"/>
                  </a:lnTo>
                  <a:lnTo>
                    <a:pt x="14835887" y="15622143"/>
                  </a:lnTo>
                  <a:lnTo>
                    <a:pt x="0" y="1562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49" t="0" r="-264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5480" y="3571983"/>
            <a:ext cx="5422526" cy="258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US has remained the leader in sales for 2 years in a row.</a:t>
            </a:r>
          </a:p>
          <a:p>
            <a:pPr algn="ctr">
              <a:lnSpc>
                <a:spcPts val="4186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South West has been the reqion with most sales for the last 2 years.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7460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8275381" y="4963680"/>
            <a:ext cx="14862531" cy="15650186"/>
            <a:chOff x="0" y="0"/>
            <a:chExt cx="14835840" cy="15622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35887" cy="15622143"/>
            </a:xfrm>
            <a:custGeom>
              <a:avLst/>
              <a:gdLst/>
              <a:ahLst/>
              <a:cxnLst/>
              <a:rect r="r" b="b" t="t" l="l"/>
              <a:pathLst>
                <a:path h="15622143" w="14835887">
                  <a:moveTo>
                    <a:pt x="0" y="0"/>
                  </a:moveTo>
                  <a:lnTo>
                    <a:pt x="14835887" y="0"/>
                  </a:lnTo>
                  <a:lnTo>
                    <a:pt x="14835887" y="15622143"/>
                  </a:lnTo>
                  <a:lnTo>
                    <a:pt x="0" y="1562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49" t="0" r="-264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384890" y="1986766"/>
            <a:ext cx="7605581" cy="5704186"/>
          </a:xfrm>
          <a:custGeom>
            <a:avLst/>
            <a:gdLst/>
            <a:ahLst/>
            <a:cxnLst/>
            <a:rect r="r" b="b" t="t" l="l"/>
            <a:pathLst>
              <a:path h="5704186" w="7605581">
                <a:moveTo>
                  <a:pt x="0" y="0"/>
                </a:moveTo>
                <a:lnTo>
                  <a:pt x="7605580" y="0"/>
                </a:lnTo>
                <a:lnTo>
                  <a:pt x="7605580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2072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8180" y="311085"/>
            <a:ext cx="10615464" cy="7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Relationship between annual leave and</a:t>
            </a: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bonus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47720" y="2343309"/>
            <a:ext cx="6570670" cy="409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6"/>
              </a:lnSpc>
              <a:spcBef>
                <a:spcPct val="0"/>
              </a:spcBef>
            </a:pPr>
            <a:r>
              <a:rPr lang="en-US" sz="286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 correlation between </a:t>
            </a:r>
          </a:p>
          <a:p>
            <a:pPr algn="ctr">
              <a:lnSpc>
                <a:spcPts val="4126"/>
              </a:lnSpc>
              <a:spcBef>
                <a:spcPct val="0"/>
              </a:spcBef>
            </a:pPr>
            <a:r>
              <a:rPr lang="en-US" sz="286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annual leave taken and bonus earned</a:t>
            </a:r>
          </a:p>
          <a:p>
            <a:pPr algn="ctr">
              <a:lnSpc>
                <a:spcPts val="4126"/>
              </a:lnSpc>
              <a:spcBef>
                <a:spcPct val="0"/>
              </a:spcBef>
            </a:pPr>
            <a:r>
              <a:rPr lang="en-US" sz="286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 out of 4 people </a:t>
            </a:r>
          </a:p>
          <a:p>
            <a:pPr algn="ctr">
              <a:lnSpc>
                <a:spcPts val="4126"/>
              </a:lnSpc>
              <a:spcBef>
                <a:spcPct val="0"/>
              </a:spcBef>
            </a:pPr>
            <a:r>
              <a:rPr lang="en-US" sz="286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with the shortest time of annual leave</a:t>
            </a:r>
          </a:p>
          <a:p>
            <a:pPr algn="ctr">
              <a:lnSpc>
                <a:spcPts val="4126"/>
              </a:lnSpc>
              <a:spcBef>
                <a:spcPct val="0"/>
              </a:spcBef>
            </a:pPr>
            <a:r>
              <a:rPr lang="en-US" sz="286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have not earned any bonus</a:t>
            </a:r>
          </a:p>
          <a:p>
            <a:pPr algn="ctr">
              <a:lnSpc>
                <a:spcPts val="4126"/>
              </a:lnSpc>
              <a:spcBef>
                <a:spcPct val="0"/>
              </a:spcBef>
            </a:pPr>
            <a:r>
              <a:rPr lang="en-US" sz="286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Conclusion:</a:t>
            </a:r>
          </a:p>
          <a:p>
            <a:pPr algn="ctr">
              <a:lnSpc>
                <a:spcPts val="4126"/>
              </a:lnSpc>
              <a:spcBef>
                <a:spcPct val="0"/>
              </a:spcBef>
            </a:pPr>
            <a:r>
              <a:rPr lang="en-US" sz="286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not taking the annual leave</a:t>
            </a:r>
          </a:p>
          <a:p>
            <a:pPr algn="ctr">
              <a:lnSpc>
                <a:spcPts val="4126"/>
              </a:lnSpc>
              <a:spcBef>
                <a:spcPct val="0"/>
              </a:spcBef>
            </a:pPr>
            <a:r>
              <a:rPr lang="en-US" sz="286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does not mean good performance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7460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8275381" y="4963680"/>
            <a:ext cx="14862531" cy="15650186"/>
            <a:chOff x="0" y="0"/>
            <a:chExt cx="14835840" cy="15622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35887" cy="15622143"/>
            </a:xfrm>
            <a:custGeom>
              <a:avLst/>
              <a:gdLst/>
              <a:ahLst/>
              <a:cxnLst/>
              <a:rect r="r" b="b" t="t" l="l"/>
              <a:pathLst>
                <a:path h="15622143" w="14835887">
                  <a:moveTo>
                    <a:pt x="0" y="0"/>
                  </a:moveTo>
                  <a:lnTo>
                    <a:pt x="14835887" y="0"/>
                  </a:lnTo>
                  <a:lnTo>
                    <a:pt x="14835887" y="15622143"/>
                  </a:lnTo>
                  <a:lnTo>
                    <a:pt x="0" y="1562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49" t="0" r="-264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994751" y="1866701"/>
            <a:ext cx="10122322" cy="6523110"/>
          </a:xfrm>
          <a:custGeom>
            <a:avLst/>
            <a:gdLst/>
            <a:ahLst/>
            <a:cxnLst/>
            <a:rect r="r" b="b" t="t" l="l"/>
            <a:pathLst>
              <a:path h="6523110" w="10122322">
                <a:moveTo>
                  <a:pt x="0" y="0"/>
                </a:moveTo>
                <a:lnTo>
                  <a:pt x="10122322" y="0"/>
                </a:lnTo>
                <a:lnTo>
                  <a:pt x="10122322" y="6523110"/>
                </a:lnTo>
                <a:lnTo>
                  <a:pt x="0" y="6523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8" t="0" r="-690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2072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4751" y="311085"/>
            <a:ext cx="10122322" cy="7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Relationship between Country and Reve</a:t>
            </a: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68047" y="1780976"/>
            <a:ext cx="5677019" cy="66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0084" indent="-305042" lvl="1">
              <a:lnSpc>
                <a:spcPts val="4069"/>
              </a:lnSpc>
              <a:buFont typeface="Arial"/>
              <a:buChar char="•"/>
            </a:pPr>
            <a:r>
              <a:rPr lang="en-US" b="true" sz="28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bar chart displays the t</a:t>
            </a:r>
            <a:r>
              <a:rPr lang="en-US" b="true" sz="28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otal revenue by country, clearly showing the United States as the dominant market with revenue exceeding $65,000,000. </a:t>
            </a:r>
          </a:p>
          <a:p>
            <a:pPr algn="just">
              <a:lnSpc>
                <a:spcPts val="4069"/>
              </a:lnSpc>
            </a:pPr>
          </a:p>
          <a:p>
            <a:pPr algn="just" marL="610084" indent="-305042" lvl="1">
              <a:lnSpc>
                <a:spcPts val="4069"/>
              </a:lnSpc>
              <a:buFont typeface="Arial"/>
              <a:buChar char="•"/>
            </a:pPr>
            <a:r>
              <a:rPr lang="en-US" b="true" sz="28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Canada is the second-largest contributor, while the remaining countries generate significantly lower and comparable revenue amounts.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7460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8275381" y="4963680"/>
            <a:ext cx="14862531" cy="15650186"/>
            <a:chOff x="0" y="0"/>
            <a:chExt cx="14835840" cy="15622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35887" cy="15622143"/>
            </a:xfrm>
            <a:custGeom>
              <a:avLst/>
              <a:gdLst/>
              <a:ahLst/>
              <a:cxnLst/>
              <a:rect r="r" b="b" t="t" l="l"/>
              <a:pathLst>
                <a:path h="15622143" w="14835887">
                  <a:moveTo>
                    <a:pt x="0" y="0"/>
                  </a:moveTo>
                  <a:lnTo>
                    <a:pt x="14835887" y="0"/>
                  </a:lnTo>
                  <a:lnTo>
                    <a:pt x="14835887" y="15622143"/>
                  </a:lnTo>
                  <a:lnTo>
                    <a:pt x="0" y="1562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49" t="0" r="-264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26760" y="1230627"/>
            <a:ext cx="13016520" cy="8279133"/>
          </a:xfrm>
          <a:custGeom>
            <a:avLst/>
            <a:gdLst/>
            <a:ahLst/>
            <a:cxnLst/>
            <a:rect r="r" b="b" t="t" l="l"/>
            <a:pathLst>
              <a:path h="8279133" w="13016520">
                <a:moveTo>
                  <a:pt x="0" y="0"/>
                </a:moveTo>
                <a:lnTo>
                  <a:pt x="13016520" y="0"/>
                </a:lnTo>
                <a:lnTo>
                  <a:pt x="13016520" y="8279133"/>
                </a:lnTo>
                <a:lnTo>
                  <a:pt x="0" y="8279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33" t="0" r="-670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2072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216" y="204206"/>
            <a:ext cx="14032731" cy="72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Relationship between Sick Leave and Job Title (PersonType)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00032" y="1786549"/>
            <a:ext cx="3687968" cy="292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Only 2 types of person</a:t>
            </a:r>
          </a:p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Sales Persons tend to take less sick leave hours then Employees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7460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8275381" y="4963680"/>
            <a:ext cx="14862531" cy="15650186"/>
            <a:chOff x="0" y="0"/>
            <a:chExt cx="14835840" cy="15622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35887" cy="15622143"/>
            </a:xfrm>
            <a:custGeom>
              <a:avLst/>
              <a:gdLst/>
              <a:ahLst/>
              <a:cxnLst/>
              <a:rect r="r" b="b" t="t" l="l"/>
              <a:pathLst>
                <a:path h="15622143" w="14835887">
                  <a:moveTo>
                    <a:pt x="0" y="0"/>
                  </a:moveTo>
                  <a:lnTo>
                    <a:pt x="14835887" y="0"/>
                  </a:lnTo>
                  <a:lnTo>
                    <a:pt x="14835887" y="15622143"/>
                  </a:lnTo>
                  <a:lnTo>
                    <a:pt x="0" y="1562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49" t="0" r="-264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958645" y="925266"/>
            <a:ext cx="15073174" cy="8159902"/>
          </a:xfrm>
          <a:custGeom>
            <a:avLst/>
            <a:gdLst/>
            <a:ahLst/>
            <a:cxnLst/>
            <a:rect r="r" b="b" t="t" l="l"/>
            <a:pathLst>
              <a:path h="8159902" w="15073174">
                <a:moveTo>
                  <a:pt x="0" y="0"/>
                </a:moveTo>
                <a:lnTo>
                  <a:pt x="15073174" y="0"/>
                </a:lnTo>
                <a:lnTo>
                  <a:pt x="15073174" y="8159902"/>
                </a:lnTo>
                <a:lnTo>
                  <a:pt x="0" y="8159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90" t="-888" r="0" b="-427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2072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216" y="204206"/>
            <a:ext cx="14032731" cy="72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Relationship between Sick Leave and Job Title (PersonType)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2216" y="9073961"/>
            <a:ext cx="15259604" cy="96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Operational and physical labor  roles (e.g., Stocker, Janitor) use the most sick leave.</a:t>
            </a:r>
          </a:p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Technical and senior management roles use the least sick leave 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7460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290344" y="4345602"/>
            <a:ext cx="14862531" cy="15650186"/>
            <a:chOff x="0" y="0"/>
            <a:chExt cx="14835840" cy="15622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35887" cy="15622143"/>
            </a:xfrm>
            <a:custGeom>
              <a:avLst/>
              <a:gdLst/>
              <a:ahLst/>
              <a:cxnLst/>
              <a:rect r="r" b="b" t="t" l="l"/>
              <a:pathLst>
                <a:path h="15622143" w="14835887">
                  <a:moveTo>
                    <a:pt x="0" y="0"/>
                  </a:moveTo>
                  <a:lnTo>
                    <a:pt x="14835887" y="0"/>
                  </a:lnTo>
                  <a:lnTo>
                    <a:pt x="14835887" y="15622143"/>
                  </a:lnTo>
                  <a:lnTo>
                    <a:pt x="0" y="1562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49" t="0" r="-264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810754" y="1693816"/>
            <a:ext cx="8243434" cy="6282684"/>
          </a:xfrm>
          <a:custGeom>
            <a:avLst/>
            <a:gdLst/>
            <a:ahLst/>
            <a:cxnLst/>
            <a:rect r="r" b="b" t="t" l="l"/>
            <a:pathLst>
              <a:path h="6282684" w="8243434">
                <a:moveTo>
                  <a:pt x="0" y="0"/>
                </a:moveTo>
                <a:lnTo>
                  <a:pt x="8243434" y="0"/>
                </a:lnTo>
                <a:lnTo>
                  <a:pt x="8243434" y="6282685"/>
                </a:lnTo>
                <a:lnTo>
                  <a:pt x="0" y="6282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2072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216" y="204206"/>
            <a:ext cx="8077423" cy="7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Store trading duration and revenue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25530" y="8278139"/>
            <a:ext cx="5813882" cy="98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Overall correlation is very low (-0.13) → no clear relationship.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45418" y="2050991"/>
            <a:ext cx="5813882" cy="98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Overall correlation is very low (-0.13) → no clear relationship.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7460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8275381" y="4963680"/>
            <a:ext cx="14862531" cy="15650186"/>
            <a:chOff x="0" y="0"/>
            <a:chExt cx="14835840" cy="15622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35887" cy="15622143"/>
            </a:xfrm>
            <a:custGeom>
              <a:avLst/>
              <a:gdLst/>
              <a:ahLst/>
              <a:cxnLst/>
              <a:rect r="r" b="b" t="t" l="l"/>
              <a:pathLst>
                <a:path h="15622143" w="14835887">
                  <a:moveTo>
                    <a:pt x="0" y="0"/>
                  </a:moveTo>
                  <a:lnTo>
                    <a:pt x="14835887" y="0"/>
                  </a:lnTo>
                  <a:lnTo>
                    <a:pt x="14835887" y="15622143"/>
                  </a:lnTo>
                  <a:lnTo>
                    <a:pt x="0" y="1562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49" t="0" r="-264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156680" y="1254658"/>
            <a:ext cx="5856374" cy="3323492"/>
          </a:xfrm>
          <a:custGeom>
            <a:avLst/>
            <a:gdLst/>
            <a:ahLst/>
            <a:cxnLst/>
            <a:rect r="r" b="b" t="t" l="l"/>
            <a:pathLst>
              <a:path h="3323492" w="5856374">
                <a:moveTo>
                  <a:pt x="0" y="0"/>
                </a:moveTo>
                <a:lnTo>
                  <a:pt x="5856374" y="0"/>
                </a:lnTo>
                <a:lnTo>
                  <a:pt x="5856374" y="3323492"/>
                </a:lnTo>
                <a:lnTo>
                  <a:pt x="0" y="3323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84867" y="4578150"/>
            <a:ext cx="5856374" cy="3323492"/>
          </a:xfrm>
          <a:custGeom>
            <a:avLst/>
            <a:gdLst/>
            <a:ahLst/>
            <a:cxnLst/>
            <a:rect r="r" b="b" t="t" l="l"/>
            <a:pathLst>
              <a:path h="3323492" w="5856374">
                <a:moveTo>
                  <a:pt x="0" y="0"/>
                </a:moveTo>
                <a:lnTo>
                  <a:pt x="5856374" y="0"/>
                </a:lnTo>
                <a:lnTo>
                  <a:pt x="5856374" y="3323492"/>
                </a:lnTo>
                <a:lnTo>
                  <a:pt x="0" y="332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941241" y="6239306"/>
            <a:ext cx="5762914" cy="3270454"/>
          </a:xfrm>
          <a:custGeom>
            <a:avLst/>
            <a:gdLst/>
            <a:ahLst/>
            <a:cxnLst/>
            <a:rect r="r" b="b" t="t" l="l"/>
            <a:pathLst>
              <a:path h="3270454" w="5762914">
                <a:moveTo>
                  <a:pt x="0" y="0"/>
                </a:moveTo>
                <a:lnTo>
                  <a:pt x="5762915" y="0"/>
                </a:lnTo>
                <a:lnTo>
                  <a:pt x="5762915" y="3270454"/>
                </a:lnTo>
                <a:lnTo>
                  <a:pt x="0" y="32704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42072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2216" y="204206"/>
            <a:ext cx="8077423" cy="7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Store trading duration and revenue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99835" y="1674670"/>
            <a:ext cx="5813882" cy="193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Grouping by store specialty (Touring, Mountain, Road) also shows no significant correlation.</a:t>
            </a:r>
          </a:p>
          <a:p>
            <a:pPr algn="ctr">
              <a:lnSpc>
                <a:spcPts val="364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771570" y="5282177"/>
            <a:ext cx="4744861" cy="3294577"/>
          </a:xfrm>
          <a:custGeom>
            <a:avLst/>
            <a:gdLst/>
            <a:ahLst/>
            <a:cxnLst/>
            <a:rect r="r" b="b" t="t" l="l"/>
            <a:pathLst>
              <a:path h="3294577" w="4744861">
                <a:moveTo>
                  <a:pt x="0" y="0"/>
                </a:moveTo>
                <a:lnTo>
                  <a:pt x="4744860" y="0"/>
                </a:lnTo>
                <a:lnTo>
                  <a:pt x="4744860" y="3294576"/>
                </a:lnTo>
                <a:lnTo>
                  <a:pt x="0" y="3294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43077" y="1690628"/>
            <a:ext cx="4647234" cy="3273052"/>
          </a:xfrm>
          <a:custGeom>
            <a:avLst/>
            <a:gdLst/>
            <a:ahLst/>
            <a:cxnLst/>
            <a:rect r="r" b="b" t="t" l="l"/>
            <a:pathLst>
              <a:path h="3273052" w="4647234">
                <a:moveTo>
                  <a:pt x="0" y="0"/>
                </a:moveTo>
                <a:lnTo>
                  <a:pt x="4647235" y="0"/>
                </a:lnTo>
                <a:lnTo>
                  <a:pt x="4647235" y="3273052"/>
                </a:lnTo>
                <a:lnTo>
                  <a:pt x="0" y="3273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43077" y="5300761"/>
            <a:ext cx="4718096" cy="3275992"/>
          </a:xfrm>
          <a:custGeom>
            <a:avLst/>
            <a:gdLst/>
            <a:ahLst/>
            <a:cxnLst/>
            <a:rect r="r" b="b" t="t" l="l"/>
            <a:pathLst>
              <a:path h="3275992" w="4718096">
                <a:moveTo>
                  <a:pt x="0" y="0"/>
                </a:moveTo>
                <a:lnTo>
                  <a:pt x="4718096" y="0"/>
                </a:lnTo>
                <a:lnTo>
                  <a:pt x="4718096" y="3275992"/>
                </a:lnTo>
                <a:lnTo>
                  <a:pt x="0" y="3275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58727" y="1741345"/>
            <a:ext cx="4491612" cy="3350234"/>
          </a:xfrm>
          <a:custGeom>
            <a:avLst/>
            <a:gdLst/>
            <a:ahLst/>
            <a:cxnLst/>
            <a:rect r="r" b="b" t="t" l="l"/>
            <a:pathLst>
              <a:path h="3350234" w="4491612">
                <a:moveTo>
                  <a:pt x="0" y="0"/>
                </a:moveTo>
                <a:lnTo>
                  <a:pt x="4491612" y="0"/>
                </a:lnTo>
                <a:lnTo>
                  <a:pt x="4491612" y="3350233"/>
                </a:lnTo>
                <a:lnTo>
                  <a:pt x="0" y="3350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7460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2072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2216" y="204206"/>
            <a:ext cx="8077423" cy="7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Store trading duration and revenue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64664" y="2169144"/>
            <a:ext cx="5996314" cy="242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Grouping by store size (Small, Medium, Large, Very Large) also shows no significant correlation between store age and revenue.</a:t>
            </a:r>
          </a:p>
          <a:p>
            <a:pPr algn="ctr">
              <a:lnSpc>
                <a:spcPts val="3643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420720" y="5505184"/>
            <a:ext cx="2369051" cy="251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20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 </a:t>
            </a:r>
            <a:r>
              <a:rPr lang="en-US" sz="20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size categories have constant revenue due to synthetic data, so correlation cannot be calculated.</a:t>
            </a:r>
          </a:p>
          <a:p>
            <a:pPr algn="ctr">
              <a:lnSpc>
                <a:spcPts val="2922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72216" y="9071610"/>
            <a:ext cx="14021417" cy="48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Conclusion: Store age does not meaningfully affect revenue in this dataset.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234111" y="1920960"/>
            <a:ext cx="15177600" cy="15177600"/>
            <a:chOff x="0" y="0"/>
            <a:chExt cx="20236800" cy="20236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36814" cy="20236814"/>
            </a:xfrm>
            <a:custGeom>
              <a:avLst/>
              <a:gdLst/>
              <a:ahLst/>
              <a:cxnLst/>
              <a:rect r="r" b="b" t="t" l="l"/>
              <a:pathLst>
                <a:path h="20236814" w="20236814">
                  <a:moveTo>
                    <a:pt x="0" y="0"/>
                  </a:moveTo>
                  <a:lnTo>
                    <a:pt x="20236814" y="0"/>
                  </a:lnTo>
                  <a:lnTo>
                    <a:pt x="20236814" y="20236814"/>
                  </a:lnTo>
                  <a:lnTo>
                    <a:pt x="0" y="20236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7460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8275381" y="4963680"/>
            <a:ext cx="14862531" cy="15650186"/>
            <a:chOff x="0" y="0"/>
            <a:chExt cx="14835840" cy="15622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35887" cy="15622143"/>
            </a:xfrm>
            <a:custGeom>
              <a:avLst/>
              <a:gdLst/>
              <a:ahLst/>
              <a:cxnLst/>
              <a:rect r="r" b="b" t="t" l="l"/>
              <a:pathLst>
                <a:path h="15622143" w="14835887">
                  <a:moveTo>
                    <a:pt x="0" y="0"/>
                  </a:moveTo>
                  <a:lnTo>
                    <a:pt x="14835887" y="0"/>
                  </a:lnTo>
                  <a:lnTo>
                    <a:pt x="14835887" y="15622143"/>
                  </a:lnTo>
                  <a:lnTo>
                    <a:pt x="0" y="1562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49" t="0" r="-264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26760" y="1028700"/>
            <a:ext cx="13624421" cy="9033385"/>
          </a:xfrm>
          <a:custGeom>
            <a:avLst/>
            <a:gdLst/>
            <a:ahLst/>
            <a:cxnLst/>
            <a:rect r="r" b="b" t="t" l="l"/>
            <a:pathLst>
              <a:path h="9033385" w="13624421">
                <a:moveTo>
                  <a:pt x="0" y="0"/>
                </a:moveTo>
                <a:lnTo>
                  <a:pt x="13624421" y="0"/>
                </a:lnTo>
                <a:lnTo>
                  <a:pt x="13624421" y="9033385"/>
                </a:lnTo>
                <a:lnTo>
                  <a:pt x="0" y="9033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67" t="0" r="-959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69013" y="2483654"/>
            <a:ext cx="5669957" cy="3486425"/>
          </a:xfrm>
          <a:custGeom>
            <a:avLst/>
            <a:gdLst/>
            <a:ahLst/>
            <a:cxnLst/>
            <a:rect r="r" b="b" t="t" l="l"/>
            <a:pathLst>
              <a:path h="3486425" w="5669957">
                <a:moveTo>
                  <a:pt x="0" y="0"/>
                </a:moveTo>
                <a:lnTo>
                  <a:pt x="5669958" y="0"/>
                </a:lnTo>
                <a:lnTo>
                  <a:pt x="5669958" y="3486425"/>
                </a:lnTo>
                <a:lnTo>
                  <a:pt x="0" y="3486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55" t="0" r="-411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420720" y="943356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2216" y="204206"/>
            <a:ext cx="8034561" cy="7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Store size, employees and revenue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51181" y="2992764"/>
            <a:ext cx="2955435" cy="436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strong positive  linear correlation </a:t>
            </a:r>
          </a:p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stores with more employees generate higher revenue </a:t>
            </a:r>
          </a:p>
          <a:p>
            <a:pPr algn="ctr">
              <a:lnSpc>
                <a:spcPts val="364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371885" y="2346974"/>
            <a:ext cx="5694264" cy="3118388"/>
            <a:chOff x="0" y="0"/>
            <a:chExt cx="19578617" cy="107219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78664" cy="10722032"/>
            </a:xfrm>
            <a:custGeom>
              <a:avLst/>
              <a:gdLst/>
              <a:ahLst/>
              <a:cxnLst/>
              <a:rect r="r" b="b" t="t" l="l"/>
              <a:pathLst>
                <a:path h="10722032" w="19578664">
                  <a:moveTo>
                    <a:pt x="0" y="0"/>
                  </a:moveTo>
                  <a:lnTo>
                    <a:pt x="19578664" y="0"/>
                  </a:lnTo>
                  <a:lnTo>
                    <a:pt x="19578664" y="10722032"/>
                  </a:lnTo>
                  <a:lnTo>
                    <a:pt x="0" y="1072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1301" r="0" b="-4130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26760" y="1028700"/>
            <a:ext cx="13857300" cy="8977390"/>
          </a:xfrm>
          <a:custGeom>
            <a:avLst/>
            <a:gdLst/>
            <a:ahLst/>
            <a:cxnLst/>
            <a:rect r="r" b="b" t="t" l="l"/>
            <a:pathLst>
              <a:path h="8977390" w="13857300">
                <a:moveTo>
                  <a:pt x="0" y="0"/>
                </a:moveTo>
                <a:lnTo>
                  <a:pt x="13857300" y="0"/>
                </a:lnTo>
                <a:lnTo>
                  <a:pt x="13857300" y="8977390"/>
                </a:lnTo>
                <a:lnTo>
                  <a:pt x="0" y="897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77" t="-1803" r="-898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82828" y="2440576"/>
            <a:ext cx="5957775" cy="3672368"/>
          </a:xfrm>
          <a:custGeom>
            <a:avLst/>
            <a:gdLst/>
            <a:ahLst/>
            <a:cxnLst/>
            <a:rect r="r" b="b" t="t" l="l"/>
            <a:pathLst>
              <a:path h="3672368" w="5957775">
                <a:moveTo>
                  <a:pt x="0" y="0"/>
                </a:moveTo>
                <a:lnTo>
                  <a:pt x="5957774" y="0"/>
                </a:lnTo>
                <a:lnTo>
                  <a:pt x="5957774" y="3672368"/>
                </a:lnTo>
                <a:lnTo>
                  <a:pt x="0" y="36723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19" t="0" r="-521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2216" y="204206"/>
            <a:ext cx="8034561" cy="7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Store size, employees and revenue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16165" y="3401187"/>
            <a:ext cx="2886619" cy="341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strong positive linear correlation</a:t>
            </a:r>
          </a:p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larger stores tend to generate higher revenue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371885" y="2346974"/>
            <a:ext cx="5694264" cy="3118388"/>
            <a:chOff x="0" y="0"/>
            <a:chExt cx="19578617" cy="107219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78664" cy="10722032"/>
            </a:xfrm>
            <a:custGeom>
              <a:avLst/>
              <a:gdLst/>
              <a:ahLst/>
              <a:cxnLst/>
              <a:rect r="r" b="b" t="t" l="l"/>
              <a:pathLst>
                <a:path h="10722032" w="19578664">
                  <a:moveTo>
                    <a:pt x="0" y="0"/>
                  </a:moveTo>
                  <a:lnTo>
                    <a:pt x="19578664" y="0"/>
                  </a:lnTo>
                  <a:lnTo>
                    <a:pt x="19578664" y="10722032"/>
                  </a:lnTo>
                  <a:lnTo>
                    <a:pt x="0" y="1072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1301" r="0" b="-4130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56084" y="1028700"/>
            <a:ext cx="13419312" cy="8611178"/>
          </a:xfrm>
          <a:custGeom>
            <a:avLst/>
            <a:gdLst/>
            <a:ahLst/>
            <a:cxnLst/>
            <a:rect r="r" b="b" t="t" l="l"/>
            <a:pathLst>
              <a:path h="8611178" w="13419312">
                <a:moveTo>
                  <a:pt x="0" y="0"/>
                </a:moveTo>
                <a:lnTo>
                  <a:pt x="13419312" y="0"/>
                </a:lnTo>
                <a:lnTo>
                  <a:pt x="13419312" y="8611178"/>
                </a:lnTo>
                <a:lnTo>
                  <a:pt x="0" y="8611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14" t="0" r="-805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2216" y="204206"/>
            <a:ext cx="8034561" cy="7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Store size, employees and revenue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03971" y="2958044"/>
            <a:ext cx="3235192" cy="332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introduced new metric </a:t>
            </a:r>
            <a:r>
              <a:rPr lang="en-US" b="true" sz="2529" i="true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Revenue Per Employee</a:t>
            </a:r>
          </a:p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smaller shops are slightly more efficient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59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DA_LON14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96240" y="-975960"/>
            <a:ext cx="2223000" cy="11879280"/>
            <a:chOff x="0" y="0"/>
            <a:chExt cx="2964000" cy="15839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64053" cy="15839060"/>
            </a:xfrm>
            <a:custGeom>
              <a:avLst/>
              <a:gdLst/>
              <a:ahLst/>
              <a:cxnLst/>
              <a:rect r="r" b="b" t="t" l="l"/>
              <a:pathLst>
                <a:path h="15839060" w="2964053">
                  <a:moveTo>
                    <a:pt x="0" y="0"/>
                  </a:moveTo>
                  <a:lnTo>
                    <a:pt x="2964053" y="0"/>
                  </a:lnTo>
                  <a:lnTo>
                    <a:pt x="2964053" y="15839060"/>
                  </a:lnTo>
                  <a:lnTo>
                    <a:pt x="0" y="1583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411495" y="1028700"/>
            <a:ext cx="7845214" cy="4296328"/>
            <a:chOff x="0" y="0"/>
            <a:chExt cx="19578617" cy="107219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78664" cy="10722032"/>
            </a:xfrm>
            <a:custGeom>
              <a:avLst/>
              <a:gdLst/>
              <a:ahLst/>
              <a:cxnLst/>
              <a:rect r="r" b="b" t="t" l="l"/>
              <a:pathLst>
                <a:path h="10722032" w="19578664">
                  <a:moveTo>
                    <a:pt x="0" y="0"/>
                  </a:moveTo>
                  <a:lnTo>
                    <a:pt x="19578664" y="0"/>
                  </a:lnTo>
                  <a:lnTo>
                    <a:pt x="19578664" y="10722032"/>
                  </a:lnTo>
                  <a:lnTo>
                    <a:pt x="0" y="1072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522" t="0" r="-669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316365" y="5611477"/>
            <a:ext cx="7940344" cy="4294620"/>
          </a:xfrm>
          <a:custGeom>
            <a:avLst/>
            <a:gdLst/>
            <a:ahLst/>
            <a:cxnLst/>
            <a:rect r="r" b="b" t="t" l="l"/>
            <a:pathLst>
              <a:path h="4294620" w="7940344">
                <a:moveTo>
                  <a:pt x="0" y="0"/>
                </a:moveTo>
                <a:lnTo>
                  <a:pt x="7940344" y="0"/>
                </a:lnTo>
                <a:lnTo>
                  <a:pt x="7940344" y="4294620"/>
                </a:lnTo>
                <a:lnTo>
                  <a:pt x="0" y="4294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2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06776" y="353464"/>
            <a:ext cx="29372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99">
                <a:solidFill>
                  <a:srgbClr val="EFEF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November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2216" y="204206"/>
            <a:ext cx="8034561" cy="7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Store size, employees and revenue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88230" y="1812461"/>
            <a:ext cx="7499770" cy="292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identified the top 10 most efficient and least efficient stores </a:t>
            </a:r>
          </a:p>
          <a:p>
            <a:pPr algn="l" marL="546226" indent="-273113" lvl="1">
              <a:lnSpc>
                <a:spcPts val="3643"/>
              </a:lnSpc>
              <a:buFont typeface="Arial"/>
              <a:buChar char="•"/>
            </a:pPr>
            <a:r>
              <a:rPr lang="en-US" b="true" sz="252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additional information helps to identify geographical patterns and personnel responsible for the best- and worst-performing stores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0963" y="1167002"/>
            <a:ext cx="15177600" cy="15177600"/>
            <a:chOff x="0" y="0"/>
            <a:chExt cx="20236800" cy="20236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36814" cy="20236814"/>
            </a:xfrm>
            <a:custGeom>
              <a:avLst/>
              <a:gdLst/>
              <a:ahLst/>
              <a:cxnLst/>
              <a:rect r="r" b="b" t="t" l="l"/>
              <a:pathLst>
                <a:path h="20236814" w="20236814">
                  <a:moveTo>
                    <a:pt x="0" y="0"/>
                  </a:moveTo>
                  <a:lnTo>
                    <a:pt x="20236814" y="0"/>
                  </a:lnTo>
                  <a:lnTo>
                    <a:pt x="20236814" y="20236814"/>
                  </a:lnTo>
                  <a:lnTo>
                    <a:pt x="0" y="20236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304925"/>
            <a:ext cx="7935480" cy="191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2801"/>
              </a:lnSpc>
            </a:pPr>
            <a:r>
              <a:rPr lang="en-US" b="true" sz="13200" spc="-62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Tim</a:t>
            </a:r>
            <a:r>
              <a:rPr lang="en-US" b="true" sz="13200" spc="-62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eline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766520" y="5556960"/>
            <a:ext cx="8218080" cy="4817880"/>
            <a:chOff x="0" y="0"/>
            <a:chExt cx="10957440" cy="6423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57433" cy="6423787"/>
            </a:xfrm>
            <a:custGeom>
              <a:avLst/>
              <a:gdLst/>
              <a:ahLst/>
              <a:cxnLst/>
              <a:rect r="r" b="b" t="t" l="l"/>
              <a:pathLst>
                <a:path h="6423787" w="10957433">
                  <a:moveTo>
                    <a:pt x="0" y="0"/>
                  </a:moveTo>
                  <a:lnTo>
                    <a:pt x="10957433" y="0"/>
                  </a:lnTo>
                  <a:lnTo>
                    <a:pt x="10957433" y="6423787"/>
                  </a:lnTo>
                  <a:lnTo>
                    <a:pt x="0" y="6423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547215" y="7093620"/>
            <a:ext cx="6085080" cy="38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600"/>
              </a:lnSpc>
            </a:pPr>
            <a:r>
              <a:rPr lang="en-US" b="true" sz="37800" spc="-1857">
                <a:solidFill>
                  <a:srgbClr val="EFEF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74120"/>
            <a:ext cx="7492901" cy="535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17 Nov — Setup &amp; Exploration</a:t>
            </a:r>
          </a:p>
          <a:p>
            <a:pPr algn="l" marL="539749" indent="-269875" lvl="1">
              <a:lnSpc>
                <a:spcPts val="35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Task review, dataset familiarisation</a:t>
            </a:r>
          </a:p>
          <a:p>
            <a:pPr algn="l" marL="539749" indent="-269875" lvl="1">
              <a:lnSpc>
                <a:spcPts val="35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Task allocation, SQL extraction, initial Python EDA</a:t>
            </a:r>
          </a:p>
          <a:p>
            <a:pPr algn="l">
              <a:lnSpc>
                <a:spcPts val="359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 Nov — Analysis</a:t>
            </a:r>
          </a:p>
          <a:p>
            <a:pPr algn="l" marL="539749" indent="-269875" lvl="1">
              <a:lnSpc>
                <a:spcPts val="35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Team sync, task adjustments</a:t>
            </a:r>
          </a:p>
          <a:p>
            <a:pPr algn="l" marL="539749" indent="-269875" lvl="1">
              <a:lnSpc>
                <a:spcPts val="35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Python EDA and visualisations</a:t>
            </a:r>
          </a:p>
          <a:p>
            <a:pPr algn="l">
              <a:lnSpc>
                <a:spcPts val="359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19 Nov — Preparation</a:t>
            </a:r>
          </a:p>
          <a:p>
            <a:pPr algn="l" marL="539749" indent="-269875" lvl="1">
              <a:lnSpc>
                <a:spcPts val="35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Presentation deck creation</a:t>
            </a:r>
          </a:p>
          <a:p>
            <a:pPr algn="l" marL="539749" indent="-269875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Report</a:t>
            </a: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preparation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 Nov — Final Presentation</a:t>
            </a:r>
          </a:p>
          <a:p>
            <a:pPr algn="l" marL="539749" indent="-269875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Deliver project results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51794" y="3477653"/>
            <a:ext cx="11222280" cy="11222280"/>
            <a:chOff x="0" y="0"/>
            <a:chExt cx="14963040" cy="149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63012" cy="14963012"/>
            </a:xfrm>
            <a:custGeom>
              <a:avLst/>
              <a:gdLst/>
              <a:ahLst/>
              <a:cxnLst/>
              <a:rect r="r" b="b" t="t" l="l"/>
              <a:pathLst>
                <a:path h="14963012" w="14963012">
                  <a:moveTo>
                    <a:pt x="0" y="0"/>
                  </a:moveTo>
                  <a:lnTo>
                    <a:pt x="14963012" y="0"/>
                  </a:lnTo>
                  <a:lnTo>
                    <a:pt x="14963012" y="14963012"/>
                  </a:lnTo>
                  <a:lnTo>
                    <a:pt x="0" y="1496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31880" y="313320"/>
            <a:ext cx="293724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600"/>
              </a:lnSpc>
            </a:pPr>
            <a:r>
              <a:rPr lang="en-US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</a:rPr>
              <a:t>Presentation 2024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8880" y="313320"/>
            <a:ext cx="293724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600"/>
              </a:lnSpc>
            </a:pPr>
            <a:r>
              <a:rPr lang="en-US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</a:rPr>
              <a:t>Thynk Unlimited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75200" y="313320"/>
            <a:ext cx="293724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en-US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74600" y="31332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20720" y="313320"/>
            <a:ext cx="1226160" cy="53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00"/>
              </a:lnSpc>
            </a:pPr>
            <a:r>
              <a:rPr lang="ar-EG" b="true" sz="2499">
                <a:solidFill>
                  <a:srgbClr val="EFEFEF"/>
                </a:solidFill>
                <a:latin typeface="Arial Bold"/>
                <a:ea typeface="Arial Bold"/>
                <a:cs typeface="Arial Bold"/>
                <a:sym typeface="Arial Bold"/>
                <a:rtl val="true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74600" y="2604861"/>
            <a:ext cx="10418400" cy="16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5401"/>
              </a:lnSpc>
            </a:pPr>
            <a:r>
              <a:rPr lang="en-US" b="true" sz="16400" spc="-802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70641" y="5932984"/>
            <a:ext cx="5785619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Questions and feedback are welcome.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75086" y="9636915"/>
            <a:ext cx="1010170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repository:</a:t>
            </a:r>
            <a:r>
              <a:rPr lang="en-US" b="true" sz="24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3" tooltip="https://github.com/KristinaScgen/Group-Task_2"/>
              </a:rPr>
              <a:t>https://github.com/KristinaScgen/Group-Task_2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696420" y="-5400"/>
            <a:ext cx="19680840" cy="1704960"/>
            <a:chOff x="0" y="0"/>
            <a:chExt cx="26241120" cy="227328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6241120" cy="2273280"/>
              <a:chOff x="0" y="0"/>
              <a:chExt cx="26241120" cy="22732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6241121" cy="2273300"/>
              </a:xfrm>
              <a:custGeom>
                <a:avLst/>
                <a:gdLst/>
                <a:ahLst/>
                <a:cxnLst/>
                <a:rect r="r" b="b" t="t" l="l"/>
                <a:pathLst>
                  <a:path h="2273300" w="26241121">
                    <a:moveTo>
                      <a:pt x="0" y="0"/>
                    </a:moveTo>
                    <a:lnTo>
                      <a:pt x="26241121" y="0"/>
                    </a:lnTo>
                    <a:lnTo>
                      <a:pt x="26241121" y="2273300"/>
                    </a:lnTo>
                    <a:lnTo>
                      <a:pt x="0" y="2273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2FF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247447" y="749835"/>
              <a:ext cx="3916320" cy="57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rtl="true">
                <a:lnSpc>
                  <a:spcPts val="3600"/>
                </a:lnSpc>
              </a:pPr>
              <a:r>
                <a:rPr lang="en-US" sz="2499">
                  <a:solidFill>
                    <a:srgbClr val="EFEFE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DA_LON14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818327" y="946140"/>
              <a:ext cx="3983236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4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TEAM: Scatter brains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9851687" y="749835"/>
              <a:ext cx="3916320" cy="57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US" sz="2499">
                  <a:solidFill>
                    <a:srgbClr val="EFEFE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20 November 2025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DAG5E_gA78k</dc:identifier>
  <dcterms:modified xsi:type="dcterms:W3CDTF">2011-08-01T06:04:30Z</dcterms:modified>
  <cp:revision>1</cp:revision>
  <dc:title>20 November 2025</dc:title>
</cp:coreProperties>
</file>