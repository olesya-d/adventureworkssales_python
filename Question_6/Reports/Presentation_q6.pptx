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82" d="100"/>
          <a:sy n="82" d="100"/>
        </p:scale>
        <p:origin x="49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B7419-9F93-0753-B58E-A0E3615FF3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6FD2BE-96FF-F4EC-DF12-801BBD7EF0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B07F1-F687-4187-903D-7915BF62E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F4166-0DA1-4B12-85F6-8F749A38BE7C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73CAF1-0A64-5E72-A1C5-B0FB03101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0C5B8-B17A-6860-28D1-A7CD2168C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11632-26F4-4F71-AACF-0B673BEA1C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4019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AD05-257E-46B7-6F0F-6276385B3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008B7-AFDD-B35D-E569-08C5BDEE5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58083-4209-9337-8916-70606A4A2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F4166-0DA1-4B12-85F6-8F749A38BE7C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C0017E-F9D0-819D-7A5E-7E8D9B96C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EB78C-8F61-EFCB-E3D0-2C61EE818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11632-26F4-4F71-AACF-0B673BEA1C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3944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480BF-FD6F-0450-23AE-F73645FB9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0DB590-EE62-CE08-F2FF-2B2909ECF0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1062D-D334-B494-1E87-796174405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F4166-0DA1-4B12-85F6-8F749A38BE7C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E9D9E-44C9-3B21-B16C-D799D19D4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762DD-56F9-4E5F-D585-12C5548A5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11632-26F4-4F71-AACF-0B673BEA1C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2262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7BD0F-E6C1-C1C0-E598-4D6F74DB6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FD82B-0032-2BD5-2EA1-199633445A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7B1874-108D-84CD-5A91-0B400833CC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3340D6-E294-EC6C-46CB-7F45DADA6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F4166-0DA1-4B12-85F6-8F749A38BE7C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F5049B-AD57-68A8-5393-41858198A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A04C06-AFBD-E7F7-0CBD-7B3068D28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11632-26F4-4F71-AACF-0B673BEA1C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7919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40251-9D4C-5639-79A9-9AE705E92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E7EB97-AC4B-6DB3-CF48-B6E0329D0E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1BBD44-FEE7-CADD-CC7F-7EF241C42F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5F5939-F1BF-E366-E569-8437391F3C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B2867F-0F82-4538-7292-08CA903793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397A5E-1D38-9FEC-73B5-4B36E1A85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F4166-0DA1-4B12-85F6-8F749A38BE7C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8DC4AB-46D3-2551-11AE-62AD262BD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61827A-B979-4B52-D128-CAD860E79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11632-26F4-4F71-AACF-0B673BEA1C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0996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E370E-94AA-AF4C-5173-20A96BC8F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065CA-79EC-AA43-CF2B-9F448C416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F4166-0DA1-4B12-85F6-8F749A38BE7C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6164BE-83EF-1AD1-1F10-ABA67AC5B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ADDF4A-4138-CC59-C4B4-66864E271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11632-26F4-4F71-AACF-0B673BEA1C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2381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6E4AF7-132A-461B-7B97-EA592A858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F4166-0DA1-4B12-85F6-8F749A38BE7C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EF4A2D-F5AF-1ED9-9BE1-526BB6684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43C4FA-6DBF-A875-3275-CD83CC759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11632-26F4-4F71-AACF-0B673BEA1C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4549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6E32F-A4AF-0493-42D5-14D3285EC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070AE-C72F-5B3F-C70A-0973352DAA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E5DD7C-58BB-518B-9ECC-950096229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FF98C4-6572-BC58-46CE-993D196A6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F4166-0DA1-4B12-85F6-8F749A38BE7C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32CAC2-52D2-4E88-F4F7-8D6CE48F5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70AB2F-4FD3-7914-02BF-A07510E59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11632-26F4-4F71-AACF-0B673BEA1C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110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521A3-2B76-11E5-E7A2-FD0B0EFFC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5CF365-AC0D-87F0-F9F5-DF5C516057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EB4541-8B70-92DE-E261-81AC9A69C6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BDBDD5-2A39-91E7-9C3A-1044E117D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F4166-0DA1-4B12-85F6-8F749A38BE7C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FA0904-8A8B-493D-D9B7-9355B2FD6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5D89F0-9A2D-128C-B536-B4CD65CD6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11632-26F4-4F71-AACF-0B673BEA1C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0178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E240B-ABF3-81E1-0F2C-6079DB425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EE2DAE-6207-ED69-D0E2-35FA3098A5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9A9B1A-9D86-E68F-93B3-815846BB7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F4166-0DA1-4B12-85F6-8F749A38BE7C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7D813-5CB9-939D-FF61-5D3124EBB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DA796-C601-F09C-C72C-9C2DF84D1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11632-26F4-4F71-AACF-0B673BEA1C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4992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33AC75-8248-0E52-344C-9615557BB1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EC4556-6EB9-50AF-7005-AE9571F3CA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A4E11-8527-D42E-A988-3261199D7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F4166-0DA1-4B12-85F6-8F749A38BE7C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814BBE-47C7-0429-1A4B-0F7D400CE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562AD8-6473-59FE-2BB0-BCD1D7ACE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11632-26F4-4F71-AACF-0B673BEA1C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8638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4CE453-8E17-4F3E-7BAB-374235276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BA6AF5-DE3C-4FD6-16F5-AE7601AC6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3A09F-FE9E-AF90-DA66-E9B91E56EA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6F4166-0DA1-4B12-85F6-8F749A38BE7C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D2831-9D53-938F-F3AF-3C71EF0C10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3435A2-E5BC-6FE0-DF18-80C9C5C75B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411632-26F4-4F71-AACF-0B673BEA1C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562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graph with a red line&#10;&#10;AI-generated content may be incorrect.">
            <a:extLst>
              <a:ext uri="{FF2B5EF4-FFF2-40B4-BE49-F238E27FC236}">
                <a16:creationId xmlns:a16="http://schemas.microsoft.com/office/drawing/2014/main" id="{8F8B0E11-92C3-0319-F147-C19E2C98BA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089" y="477195"/>
            <a:ext cx="5294716" cy="2951804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graph showing a number of employees statistic&#10;&#10;AI-generated content may be incorrect.">
            <a:extLst>
              <a:ext uri="{FF2B5EF4-FFF2-40B4-BE49-F238E27FC236}">
                <a16:creationId xmlns:a16="http://schemas.microsoft.com/office/drawing/2014/main" id="{6951C27A-6C2F-735A-3E99-E2D2CF8D0A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559" y="3321360"/>
            <a:ext cx="5294715" cy="295180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F22FB4-920A-C830-A8B2-4E5291ECBBB1}"/>
              </a:ext>
            </a:extLst>
          </p:cNvPr>
          <p:cNvSpPr txBox="1"/>
          <p:nvPr/>
        </p:nvSpPr>
        <p:spPr>
          <a:xfrm>
            <a:off x="7485988" y="2536530"/>
            <a:ext cx="299682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strong positive correlation</a:t>
            </a:r>
            <a:r>
              <a:rPr lang="en-US" sz="1200" dirty="0"/>
              <a:t> between revenue and number of employees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clear separation</a:t>
            </a:r>
            <a:r>
              <a:rPr lang="en-US" sz="1200" dirty="0"/>
              <a:t> in employee count - small shops have fewer than ~10 employees, while the highest revenue group reaches ~100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linear correlation </a:t>
            </a:r>
            <a:r>
              <a:rPr lang="en-US" sz="1200" dirty="0"/>
              <a:t>- revenue growth is mostly achieved by scaling headcount, not efficiency improvements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1435876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aph with a red line&#10;&#10;AI-generated content may be incorrect.">
            <a:extLst>
              <a:ext uri="{FF2B5EF4-FFF2-40B4-BE49-F238E27FC236}">
                <a16:creationId xmlns:a16="http://schemas.microsoft.com/office/drawing/2014/main" id="{D851CB6D-93FF-6ACB-047A-0A685B37C6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736" y="480060"/>
            <a:ext cx="5294716" cy="2951804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graph showing a diagram&#10;&#10;AI-generated content may be incorrect.">
            <a:extLst>
              <a:ext uri="{FF2B5EF4-FFF2-40B4-BE49-F238E27FC236}">
                <a16:creationId xmlns:a16="http://schemas.microsoft.com/office/drawing/2014/main" id="{C0C2677E-9CE0-08F5-78EA-DAD946A5B6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461" y="3317491"/>
            <a:ext cx="5294715" cy="29518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E6C88BD-8687-7CDB-FD47-4CA322C0ED8B}"/>
              </a:ext>
            </a:extLst>
          </p:cNvPr>
          <p:cNvSpPr txBox="1"/>
          <p:nvPr/>
        </p:nvSpPr>
        <p:spPr>
          <a:xfrm>
            <a:off x="7485988" y="2536530"/>
            <a:ext cx="299682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strong positive correlation</a:t>
            </a:r>
            <a:r>
              <a:rPr lang="en-US" sz="1200" dirty="0"/>
              <a:t> between revenue and shop size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Revenue groups differ noticeably in shop size ranges (e.g., 30k shops are 6k–11k sq ft; 300k shops reach 70k–80k sq ft)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The pattern shows that physical size is a major driver of revenue potential</a:t>
            </a:r>
          </a:p>
        </p:txBody>
      </p:sp>
    </p:spTree>
    <p:extLst>
      <p:ext uri="{BB962C8B-B14F-4D97-AF65-F5344CB8AC3E}">
        <p14:creationId xmlns:p14="http://schemas.microsoft.com/office/powerpoint/2010/main" val="272258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527FCEA-6143-4C5E-8C45-8AC9237AD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A9F23AD-7A55-49F3-A3EC-743F47F36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7090"/>
            <a:ext cx="6741849" cy="5897880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graph with a red line&#10;&#10;AI-generated content may be incorrect.">
            <a:extLst>
              <a:ext uri="{FF2B5EF4-FFF2-40B4-BE49-F238E27FC236}">
                <a16:creationId xmlns:a16="http://schemas.microsoft.com/office/drawing/2014/main" id="{6558ADF6-52C9-1851-7B32-DF0310403E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286" y="587981"/>
            <a:ext cx="6410084" cy="357362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7D9F91F-72C9-4DB9-ABD0-A8180D826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5" y="480060"/>
            <a:ext cx="4180332" cy="2788074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table with names and numbers&#10;&#10;AI-generated content may be incorrect.">
            <a:extLst>
              <a:ext uri="{FF2B5EF4-FFF2-40B4-BE49-F238E27FC236}">
                <a16:creationId xmlns:a16="http://schemas.microsoft.com/office/drawing/2014/main" id="{1A2D5D81-8596-0F2F-EC8F-E33D858B1B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5873" y="904355"/>
            <a:ext cx="3854945" cy="195387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E016956-CE9F-4946-8834-A8BC3529D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5" y="3603670"/>
            <a:ext cx="4180332" cy="2788074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table with names and a name&#10;&#10;AI-generated content may be incorrect.">
            <a:extLst>
              <a:ext uri="{FF2B5EF4-FFF2-40B4-BE49-F238E27FC236}">
                <a16:creationId xmlns:a16="http://schemas.microsoft.com/office/drawing/2014/main" id="{34544D5F-A87A-C373-9DA2-BB3639E839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5873" y="4035932"/>
            <a:ext cx="3854945" cy="18961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EDE13BB-A83E-5FA6-3755-C18A5B61D57A}"/>
              </a:ext>
            </a:extLst>
          </p:cNvPr>
          <p:cNvSpPr txBox="1"/>
          <p:nvPr/>
        </p:nvSpPr>
        <p:spPr>
          <a:xfrm>
            <a:off x="960530" y="4262494"/>
            <a:ext cx="609711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Smaller shops often have </a:t>
            </a:r>
            <a:r>
              <a:rPr lang="en-US" sz="1200" b="1" dirty="0"/>
              <a:t>higher productivity per employee</a:t>
            </a:r>
            <a:r>
              <a:rPr lang="en-US" sz="1200" dirty="0"/>
              <a:t>, reaching up to 15k per employee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Best-performing shops are mostly located in the United States and often belong to a few </a:t>
            </a:r>
            <a:r>
              <a:rPr lang="en-GB" sz="1200" dirty="0"/>
              <a:t>consistently strong sales representatives.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W</a:t>
            </a:r>
            <a:r>
              <a:rPr lang="en-US" sz="1200" dirty="0" err="1"/>
              <a:t>orst</a:t>
            </a:r>
            <a:r>
              <a:rPr lang="en-US" sz="1200" dirty="0"/>
              <a:t>-performing shops are scattered around the world with no particular geographic or pattern.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717826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149</Words>
  <Application>Microsoft Office PowerPoint</Application>
  <PresentationFormat>Widescreen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Olesya Drozhzhina</dc:creator>
  <cp:lastModifiedBy>Olesya Drozhzhina</cp:lastModifiedBy>
  <cp:revision>2</cp:revision>
  <dcterms:created xsi:type="dcterms:W3CDTF">2025-11-18T00:03:43Z</dcterms:created>
  <dcterms:modified xsi:type="dcterms:W3CDTF">2025-11-18T01:47:43Z</dcterms:modified>
</cp:coreProperties>
</file>